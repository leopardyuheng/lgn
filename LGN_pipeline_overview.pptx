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Widefield + Ephys Analysis Pipeline</a:t>
            </a:r>
          </a:p>
          <a:p>
            <a:r>
              <a:rPr sz="1400">
                <a:solidFill>
                  <a:srgbClr val="7F7F7F"/>
                </a:solidFill>
              </a:rPr>
              <a:t>Overview of steps 1-9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1554480" cy="8229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</a:rPr>
              <a:t>Step 1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Extract NEV stim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+ camera timing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097280"/>
            <a:ext cx="1554480" cy="8229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</a:rPr>
              <a:t>Step 2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Align widefield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with NEV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097280"/>
            <a:ext cx="1554480" cy="8229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</a:rPr>
              <a:t>Step 3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Build day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pointer/container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1508760"/>
            <a:ext cx="18288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1508760"/>
            <a:ext cx="18288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577840" y="1097280"/>
            <a:ext cx="1828800" cy="82296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33333"/>
                </a:solidFill>
              </a:rPr>
              <a:t>Step 4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Pixelwise fluorescence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drift analysis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1508760"/>
            <a:ext cx="18288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77840" y="45720"/>
            <a:ext cx="1828800" cy="7772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</a:rPr>
              <a:t>Pre-step B</a:t>
            </a:r>
          </a:p>
          <a:p>
            <a:pPr algn="ctr"/>
            <a:r>
              <a:rPr sz="1000" b="0">
                <a:solidFill>
                  <a:srgbClr val="333333"/>
                </a:solidFill>
              </a:rPr>
              <a:t>Draw brain mask</a:t>
            </a:r>
          </a:p>
          <a:p>
            <a:pPr algn="ctr"/>
            <a:r>
              <a:rPr sz="1000" b="0">
                <a:solidFill>
                  <a:srgbClr val="333333"/>
                </a:solidFill>
              </a:rPr>
              <a:t>(brain_mask.mat)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92240" y="822960"/>
            <a:ext cx="0" cy="27432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92240" y="1920240"/>
            <a:ext cx="0" cy="36576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291840" y="2286000"/>
            <a:ext cx="320040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92240" y="2286000"/>
            <a:ext cx="228600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91840" y="2286000"/>
            <a:ext cx="0" cy="18288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78240" y="2286000"/>
            <a:ext cx="0" cy="18288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2468880"/>
            <a:ext cx="5303520" cy="50292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333333"/>
                </a:solidFill>
              </a:rPr>
              <a:t>Step 5 (optional - whole-brain analysis)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Compute whole-brain pixelwise dF/F(x,y,t)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63240"/>
            <a:ext cx="24688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5_A - Method 0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Per-trial baseline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dF/F = (F-F_pre_trial)/F_pre_trial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063240"/>
            <a:ext cx="24688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5_B1 -&gt; 5_B2 - Method 1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Global baseline (F_global)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dF/F = (F-F_global)/F_global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468880"/>
            <a:ext cx="3840480" cy="50292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333333"/>
                </a:solidFill>
              </a:rPr>
              <a:t>Steps 6-7-8 (optional - V1 analysis)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Retinotopy, relink, V1-restricted dF/F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063240"/>
            <a:ext cx="1783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Step 6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Retino align,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define V1 mask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3063240"/>
            <a:ext cx="1783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Step 7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Relink day pointer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to V1 day_setup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38360" y="3451860"/>
            <a:ext cx="9144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55279" y="3931920"/>
            <a:ext cx="1783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8_A - Method 0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Per-trial baseline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(V1-restricted)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3931920"/>
            <a:ext cx="1783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8_B1 -&gt; 8_B2 - Method 1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Global baseline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(V1-restricted)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46820" y="3840480"/>
            <a:ext cx="0" cy="9144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721340" y="3840480"/>
            <a:ext cx="0" cy="9144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77840" y="4434840"/>
            <a:ext cx="1828800" cy="59436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Step 4 (V1 version)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Re-run after steps 6+7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406640" y="4434840"/>
            <a:ext cx="1371600" cy="27432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57400" y="3840480"/>
            <a:ext cx="0" cy="155448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17720" y="3840480"/>
            <a:ext cx="0" cy="155448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46820" y="4709160"/>
            <a:ext cx="0" cy="68580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721340" y="4709160"/>
            <a:ext cx="0" cy="68580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057400" y="5394960"/>
            <a:ext cx="352044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035040" y="5394960"/>
            <a:ext cx="468630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108960" y="5394960"/>
            <a:ext cx="5943600" cy="50292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333333"/>
                </a:solidFill>
              </a:rPr>
              <a:t>Step 9 (required)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Per-pixel significance thresholding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5989320"/>
            <a:ext cx="265176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</a:rPr>
              <a:t>9_A - Method 0</a:t>
            </a:r>
          </a:p>
          <a:p>
            <a:pPr algn="ctr"/>
            <a:r>
              <a:rPr sz="1000" b="0">
                <a:solidFill>
                  <a:srgbClr val="333333"/>
                </a:solidFill>
              </a:rPr>
              <a:t>Threshold from movie's</a:t>
            </a:r>
          </a:p>
          <a:p>
            <a:pPr algn="ctr"/>
            <a:r>
              <a:rPr sz="1000" b="0">
                <a:solidFill>
                  <a:srgbClr val="333333"/>
                </a:solidFill>
              </a:rPr>
              <a:t>own pre-stim std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5989320"/>
            <a:ext cx="265176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</a:rPr>
              <a:t>9_B - Method 1</a:t>
            </a:r>
          </a:p>
          <a:p>
            <a:pPr algn="ctr"/>
            <a:r>
              <a:rPr sz="1000" b="0">
                <a:solidFill>
                  <a:srgbClr val="333333"/>
                </a:solidFill>
              </a:rPr>
              <a:t>Threshold from global</a:t>
            </a:r>
          </a:p>
          <a:p>
            <a:pPr algn="ctr"/>
            <a:r>
              <a:rPr sz="1000" b="0">
                <a:solidFill>
                  <a:srgbClr val="333333"/>
                </a:solidFill>
              </a:rPr>
              <a:t>std_dff_m1 (5_B1/8_B1)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617720" y="5897880"/>
            <a:ext cx="0" cy="9144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52360" y="5897880"/>
            <a:ext cx="0" cy="9144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Step 4: Pixelwise Fluorescence Drift Analysis</a:t>
            </a:r>
          </a:p>
          <a:p>
            <a:r>
              <a:rPr sz="1400">
                <a:solidFill>
                  <a:srgbClr val="7F7F7F"/>
                </a:solidFill>
              </a:rPr>
              <a:t>baseline_drift_analysis_4.m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Goal: check whether raw fluorescence F(x,y) is stable across the session, before choosing a dF/F baseline method in step 5/8.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Uses every 0 uA (no-stimulation) trial, all channels pooled.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For each trial, the full TIFF stack is reduced to a single mean image (one H×W data point per trial), then discarded.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Per pixel, fits a linear model:  F(x,y) = slope · t_onset + intercept,  where t_onset is the trial's onset time in session-clock seconds.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Computes R² in closed form from accumulated sums (single pass, no second loop).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749039"/>
            <a:ext cx="5486400" cy="146304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</a:rPr>
              <a:t>Outputs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• baseline_drift_4.mat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   (slope_map, intercept_map, r2_map)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• baseline_drift_slope_r2.png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• baseline_drift_summary_scatter.png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749039"/>
            <a:ext cx="5486400" cy="14630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</a:rPr>
              <a:t>Run twice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Whole-brain version: right after step 3,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using the brain mask.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V1 version: after steps 6+7, restricted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to V1 pixels (V1-aware day_setup).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394960"/>
            <a:ext cx="11247120" cy="91440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</a:rPr>
              <a:t>Interpretation: a flat slope map and trendless scatter -&gt; baseline is stable (Method 0, per-trial baseline, is fine).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Significant drift -&gt; prefer Method 1 (F_global from steps 5_B1/8_B1), which pools ~12,000 frames across the whole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Step 5: Whole-Brain Pixelwise dF/F(x,y,t)</a:t>
            </a:r>
          </a:p>
          <a:p>
            <a:r>
              <a:rPr sz="1400">
                <a:solidFill>
                  <a:srgbClr val="7F7F7F"/>
                </a:solidFill>
              </a:rPr>
              <a:t>Two baseline normalization methods - same output format, both feed step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4864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333333"/>
                </a:solidFill>
              </a:rPr>
              <a:t>Method 0  (Step 5_A)</a:t>
            </a:r>
          </a:p>
          <a:p>
            <a:pPr algn="ctr"/>
            <a:r>
              <a:rPr sz="1600" b="0">
                <a:solidFill>
                  <a:srgbClr val="333333"/>
                </a:solidFill>
              </a:rPr>
              <a:t>Per-trial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</a:rPr>
              <a:t>Definition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dF/F(x,y,t) = [F(x,y,t) - F_pre_trial(x,y)] / F_pre_trial(x,y)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F_pre_trial = mean F over THIS trial's pre-stim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Each trial normalized by its own ~10-frame pre-stim window.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Standard approach; does not require step 4's output.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Saves per-trial movies dff_ch{N}_{I}uA_trial{K} and a trial-averaged mean_dff_movie.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Best when raw F is stable within each trial but may drift slowly across the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486400" cy="5486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333333"/>
                </a:solidFill>
              </a:rPr>
              <a:t>Method 1  (Steps 5_B1 -&gt; 5_B2)</a:t>
            </a:r>
          </a:p>
          <a:p>
            <a:pPr algn="ctr"/>
            <a:r>
              <a:rPr sz="1600" b="0">
                <a:solidFill>
                  <a:srgbClr val="333333"/>
                </a:solidFill>
              </a:rPr>
              <a:t>Global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8640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0">
                <a:solidFill>
                  <a:srgbClr val="333333"/>
                </a:solidFill>
              </a:rPr>
              <a:t>Definition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Step 5_B1:  F_global(x,y) = mean F over ALL frames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of ALL 0 uA trials (one-pass accumulation)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/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std_dff_m1(x,y) = std[(F-F_global)/F_global]  (used in step 9_B)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/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Step 5_B2:  dF/F(x,y,t) = [F(x,y,t) - F_global(x,y)] / F_global(x,y)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5204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Single session-wide baseline (~12,000 frames per pixel) instead of ~10.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Same baseline used for the dF/F signal AND the step 9_B noise threshold -&gt; self-consistent.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Saves global_baseline_m1.mat, then per-trial/mean dF/F movies under method1/ch{N}_{I}uA/.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Best when raw F drifts across the session (see step 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Step 9: Per-Pixel Significance Thresholding</a:t>
            </a:r>
          </a:p>
          <a:p>
            <a:r>
              <a:rPr sz="1400">
                <a:solidFill>
                  <a:srgbClr val="7F7F7F"/>
                </a:solidFill>
              </a:rPr>
              <a:t>Required for all paths - applies a |dF/F| &gt; n_std · threshold mask to a dF/F movie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4864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333333"/>
                </a:solidFill>
              </a:rPr>
              <a:t>Method 0  (Step 9_A)</a:t>
            </a:r>
          </a:p>
          <a:p>
            <a:pPr algn="ctr"/>
            <a:r>
              <a:rPr sz="1600" b="0">
                <a:solidFill>
                  <a:srgbClr val="333333"/>
                </a:solidFill>
              </a:rPr>
              <a:t>Within-trial pre-stim std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</a:rPr>
              <a:t>Threshold definition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pixel_std(x,y) = std( dF/F(x,y, t&lt;0) )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sig_threshold(x,y) = n_std × pixel_std(x,y)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Threshold computed from THIS movie's own pre-stim frames (~10 samples per pixel).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Works on any dF/F movie from step 5_A or 8_A.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Default n_std = 3 (~0.3% of Gaussian baseline samples cross by chance).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Output tagged e.g. thresh_mean_dff_ch16_7uA_3σ.mat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486400" cy="5486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333333"/>
                </a:solidFill>
              </a:rPr>
              <a:t>Method 1  (Step 9_B)</a:t>
            </a:r>
          </a:p>
          <a:p>
            <a:pPr algn="ctr"/>
            <a:r>
              <a:rPr sz="1600" b="0">
                <a:solidFill>
                  <a:srgbClr val="333333"/>
                </a:solidFill>
              </a:rPr>
              <a:t>Global std threshold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864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0">
                <a:solidFill>
                  <a:srgbClr val="333333"/>
                </a:solidFill>
              </a:rPr>
              <a:t>Threshold definition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std_dff_m1(x,y)  &lt;- loaded from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global_baseline_m1.mat (5_B1) or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global_baseline_m1_v1.mat (8_B1)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/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sig_threshold(x,y) = n_std × std_dff_m1(x,y)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5204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Threshold derived from ~12,000 frames of 0 uA null data per pixel, far more robust than ~10.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Works on dF/F movies from step 5_B2 or 8_B2 (Method 1 dF/F).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Same |dF/F| &gt; sig_threshold logic and frame-grid/video output as Method 0.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Output tagged e.g. thresh_mean_dff_m1_ch16_7uA_0.3σ_m1.mat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Step 5_B — Drift-Corrected dF/F (Method 1)</a:t>
            </a:r>
          </a:p>
          <a:p>
            <a:r>
              <a:rPr sz="1400">
                <a:solidFill>
                  <a:srgbClr val="7F7F7F"/>
                </a:solidFill>
              </a:rPr>
              <a:t>Step 4 linear model gives each trial its own time-varying baseline  ·  F_baseline(x,y) = intercept(x,y) + slope(x,y) · t_session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1234440"/>
            <a:ext cx="6903720" cy="4846320"/>
          </a:xfrm>
          <a:prstGeom prst="roundRect">
            <a:avLst/>
          </a:prstGeom>
          <a:solidFill>
            <a:srgbClr val="F6F6F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02920" y="5943600"/>
            <a:ext cx="6400800" cy="0"/>
          </a:xfrm>
          <a:prstGeom prst="line">
            <a:avLst/>
          </a:prstGeom>
          <a:ln w="15240">
            <a:solidFill>
              <a:srgbClr val="333333"/>
            </a:solidFill>
            <a:tailEnd type="none"/>
            <a:head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0" y="59893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Session time  →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417320"/>
            <a:ext cx="0" cy="4526280"/>
          </a:xfrm>
          <a:prstGeom prst="line">
            <a:avLst/>
          </a:prstGeom>
          <a:ln w="1524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2926080"/>
            <a:ext cx="502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Raw F  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3634740"/>
            <a:ext cx="6400800" cy="0"/>
          </a:xfrm>
          <a:prstGeom prst="line">
            <a:avLst/>
          </a:prstGeom>
          <a:ln w="25400">
            <a:solidFill>
              <a:srgbClr val="2E75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33147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2E75B6"/>
                </a:solidFill>
              </a:defRPr>
            </a:pPr>
            <a:r>
              <a:t>old: constant F_global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02920" y="1417320"/>
            <a:ext cx="6400800" cy="4434840"/>
          </a:xfrm>
          <a:prstGeom prst="line">
            <a:avLst/>
          </a:prstGeom>
          <a:ln w="317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3280" y="1371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D7D31"/>
                </a:solidFill>
              </a:defRPr>
            </a:pPr>
            <a:r>
              <a:t>new: F_baseline(t) = intercept + slope · 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005840" y="5503708"/>
            <a:ext cx="0" cy="439892"/>
          </a:xfrm>
          <a:prstGeom prst="line">
            <a:avLst/>
          </a:prstGeom>
          <a:ln w="12700">
            <a:solidFill>
              <a:srgbClr val="1F7A1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5503708"/>
            <a:ext cx="502920" cy="0"/>
          </a:xfrm>
          <a:prstGeom prst="line">
            <a:avLst/>
          </a:prstGeom>
          <a:ln w="9525">
            <a:solidFill>
              <a:srgbClr val="1F7A1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41832" y="5439700"/>
            <a:ext cx="128016" cy="128016"/>
          </a:xfrm>
          <a:prstGeom prst="ellipse">
            <a:avLst/>
          </a:prstGeom>
          <a:solidFill>
            <a:srgbClr val="1F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" y="53482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1F7A1F"/>
                </a:solidFill>
              </a:defRPr>
            </a:pPr>
            <a:r>
              <a:t>F_b(t₁)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8932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1F7A1F"/>
                </a:solidFill>
              </a:defRPr>
            </a:pPr>
            <a:r>
              <a:t>Trial 1</a:t>
            </a:r>
            <a:br/>
            <a:r>
              <a:t>(early)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61872" y="3680460"/>
            <a:ext cx="0" cy="1777528"/>
          </a:xfrm>
          <a:prstGeom prst="line">
            <a:avLst/>
          </a:prstGeom>
          <a:ln w="19050">
            <a:solidFill>
              <a:srgbClr val="800080"/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07592" y="4432064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800080"/>
                </a:solidFill>
              </a:defRPr>
            </a:pPr>
            <a:r>
              <a:t>over-corrects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520440" y="3761449"/>
            <a:ext cx="0" cy="2182151"/>
          </a:xfrm>
          <a:prstGeom prst="line">
            <a:avLst/>
          </a:prstGeom>
          <a:ln w="12700">
            <a:solidFill>
              <a:srgbClr val="AA66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920" y="3761449"/>
            <a:ext cx="3017520" cy="0"/>
          </a:xfrm>
          <a:prstGeom prst="line">
            <a:avLst/>
          </a:prstGeom>
          <a:ln w="9525">
            <a:solidFill>
              <a:srgbClr val="AA66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456432" y="3697441"/>
            <a:ext cx="128016" cy="128016"/>
          </a:xfrm>
          <a:prstGeom prst="ellipse">
            <a:avLst/>
          </a:prstGeom>
          <a:solidFill>
            <a:srgbClr val="AA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" y="3606001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A6600"/>
                </a:solidFill>
              </a:defRPr>
            </a:pPr>
            <a:r>
              <a:t>F_b(t_k)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98932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AA6600"/>
                </a:solidFill>
              </a:defRPr>
            </a:pPr>
            <a:r>
              <a:t>Trial k</a:t>
            </a:r>
            <a:br/>
            <a:r>
              <a:t>(mid)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217920" y="1892481"/>
            <a:ext cx="0" cy="4051119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" y="1892481"/>
            <a:ext cx="5715000" cy="0"/>
          </a:xfrm>
          <a:prstGeom prst="line">
            <a:avLst/>
          </a:prstGeom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53912" y="1828473"/>
            <a:ext cx="128016" cy="1280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" y="1737033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C00000"/>
                </a:solidFill>
              </a:defRPr>
            </a:pPr>
            <a:r>
              <a:t>F_b(t_N)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598932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C00000"/>
                </a:solidFill>
              </a:defRPr>
            </a:pPr>
            <a:r>
              <a:t>Trial N</a:t>
            </a:r>
            <a:br/>
            <a:r>
              <a:t>(late)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73952" y="1938201"/>
            <a:ext cx="0" cy="1650819"/>
          </a:xfrm>
          <a:prstGeom prst="line">
            <a:avLst/>
          </a:prstGeom>
          <a:ln w="19050">
            <a:solidFill>
              <a:srgbClr val="800080"/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19672" y="262645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800080"/>
                </a:solidFill>
              </a:defRPr>
            </a:pPr>
            <a:r>
              <a:t>under-corrects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6108192"/>
            <a:ext cx="6720840" cy="5486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Using constant F_global: baseline is wrong for early AND late trials — a systematic bias in dF/F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Using drift-corrected F_baseline(t): each trial's normalisation tracks the actual fluorescence level at that moment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1234440"/>
            <a:ext cx="4663440" cy="68580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333333"/>
                </a:solidFill>
              </a:rPr>
              <a:t>Step 4 output  (baseline_drift_4.mat)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1965960"/>
            <a:ext cx="46634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</a:rPr>
              <a:t>slope_map(x,y)      [ΔF / second]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intercept_map(x,y)  [F at t = 0 s]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46920" y="2788920"/>
            <a:ext cx="0" cy="22860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15200" y="3017520"/>
            <a:ext cx="4663440" cy="41148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33333"/>
                </a:solidFill>
              </a:rPr>
              <a:t>For each trial  (onset frame → session clock time)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474720"/>
            <a:ext cx="46634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0">
                <a:solidFill>
                  <a:srgbClr val="333333"/>
                </a:solidFill>
              </a:rPr>
              <a:t>t_session = (onset_frame − 1) / Fs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46920" y="4023360"/>
            <a:ext cx="0" cy="22860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315200" y="4251960"/>
            <a:ext cx="4663440" cy="64008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333333"/>
                </a:solidFill>
              </a:rPr>
              <a:t>F_baseline(x,y)  =  intercept_map  +  slope_map × t_session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46920" y="4937760"/>
            <a:ext cx="0" cy="22860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315200" y="5166360"/>
            <a:ext cx="4663440" cy="86868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333333"/>
                </a:solidFill>
              </a:rPr>
              <a:t>dF/F(x,y,t)  =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[ F(x,y,t) − F_baseline(x,y) ] / F_baseline(x,y)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6108192"/>
            <a:ext cx="4663440" cy="54864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Each trial is normalised by the expected fluorescence at its own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point in session time — drift is removed before computing dF/F.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